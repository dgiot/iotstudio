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协议碎片化</c:v>
                </c:pt>
                <c:pt idx="1">
                  <c:v>数据孤岛</c:v>
                </c:pt>
                <c:pt idx="2">
                  <c:v>A11不能动</c:v>
                </c:pt>
                <c:pt idx="3">
                  <c:v>供应商锁定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新通道</c:v>
                </c:pt>
                <c:pt idx="1">
                  <c:v>全量</c:v>
                </c:pt>
                <c:pt idx="2">
                  <c:v>即算</c:v>
                </c:pt>
                <c:pt idx="3">
                  <c:v>大屏</c:v>
                </c:pt>
                <c:pt idx="4">
                  <c:v>自主</c:v>
                </c:pt>
                <c:pt idx="5">
                  <c:v>安全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成功率</c:v>
                </c:pt>
                <c:pt idx="1">
                  <c:v>流处理</c:v>
                </c:pt>
                <c:pt idx="2">
                  <c:v>部署周期</c:v>
                </c:pt>
                <c:pt idx="3">
                  <c:v>响应速度</c:v>
                </c:pt>
                <c:pt idx="4">
                  <c:v>数据利用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99.96</c:v>
                </c:pt>
                <c:pt idx="1">
                  <c:v>738</c:v>
                </c:pt>
                <c:pt idx="2">
                  <c:v>80</c:v>
                </c:pt>
                <c:pt idx="3">
                  <c:v>99.9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采得全</c:v>
                </c:pt>
                <c:pt idx="1">
                  <c:v>存得住</c:v>
                </c:pt>
                <c:pt idx="2">
                  <c:v>算得准</c:v>
                </c:pt>
                <c:pt idx="3">
                  <c:v>看得见</c:v>
                </c:pt>
                <c:pt idx="4">
                  <c:v>管得住</c:v>
                </c:pt>
                <c:pt idx="5">
                  <c:v>交付保障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17</c:v>
                </c:pt>
                <c:pt idx="2">
                  <c:v>16</c:v>
                </c:pt>
                <c:pt idx="3">
                  <c:v>17</c:v>
                </c:pt>
                <c:pt idx="4">
                  <c:v>16</c:v>
                </c:pt>
                <c:pt idx="5">
                  <c:v>17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A11</c:v>
                </c:pt>
                <c:pt idx="1">
                  <c:v>DTU</c:v>
                </c:pt>
                <c:pt idx="2">
                  <c:v>ModbusTCP</c:v>
                </c:pt>
                <c:pt idx="3">
                  <c:v>OPC DA</c:v>
                </c:pt>
                <c:pt idx="4">
                  <c:v>ModbusRTU</c:v>
                </c:pt>
                <c:pt idx="5">
                  <c:v>OPC UA</c:v>
                </c:pt>
                <c:pt idx="6">
                  <c:v>IEC104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1032</c:v>
                </c:pt>
                <c:pt idx="1">
                  <c:v>928</c:v>
                </c:pt>
                <c:pt idx="2">
                  <c:v>76</c:v>
                </c:pt>
                <c:pt idx="3">
                  <c:v>5</c:v>
                </c:pt>
                <c:pt idx="4">
                  <c:v>15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TDengine热(48.2GB)</c:v>
                </c:pt>
                <c:pt idx="1">
                  <c:v>PG温(12.5GB)</c:v>
                </c:pt>
                <c:pt idx="2">
                  <c:v>SQLite冷(256MB)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13</c:v>
                </c:pt>
                <c:pt idx="2">
                  <c:v>0.25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阈值</c:v>
                </c:pt>
                <c:pt idx="1">
                  <c:v>突变</c:v>
                </c:pt>
                <c:pt idx="2">
                  <c:v>趋势</c:v>
                </c:pt>
                <c:pt idx="3">
                  <c:v>波动</c:v>
                </c:pt>
                <c:pt idx="4">
                  <c:v>越限</c:v>
                </c:pt>
                <c:pt idx="5">
                  <c:v>均值</c:v>
                </c:pt>
                <c:pt idx="6">
                  <c:v>变化率</c:v>
                </c:pt>
                <c:pt idx="7">
                  <c:v>峰值</c:v>
                </c:pt>
                <c:pt idx="8">
                  <c:v>异常</c:v>
                </c:pt>
                <c:pt idx="9">
                  <c:v>基线</c:v>
                </c:pt>
                <c:pt idx="10">
                  <c:v>范围</c:v>
                </c:pt>
                <c:pt idx="11">
                  <c:v>累积</c:v>
                </c:pt>
                <c:pt idx="12">
                  <c:v>方向</c:v>
                </c:pt>
                <c:pt idx="13">
                  <c:v>评分</c:v>
                </c:pt>
                <c:pt idx="14">
                  <c:v>自检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47.2</c:v>
                </c:pt>
                <c:pt idx="1">
                  <c:v>47.1</c:v>
                </c:pt>
                <c:pt idx="2">
                  <c:v>47.0</c:v>
                </c:pt>
                <c:pt idx="3">
                  <c:v>46.9</c:v>
                </c:pt>
                <c:pt idx="4">
                  <c:v>46.8</c:v>
                </c:pt>
                <c:pt idx="5">
                  <c:v>46.8</c:v>
                </c:pt>
                <c:pt idx="6">
                  <c:v>46.7</c:v>
                </c:pt>
                <c:pt idx="7">
                  <c:v>46.5</c:v>
                </c:pt>
                <c:pt idx="8">
                  <c:v>46.5</c:v>
                </c:pt>
                <c:pt idx="9">
                  <c:v>46.4</c:v>
                </c:pt>
                <c:pt idx="10">
                  <c:v>46.4</c:v>
                </c:pt>
                <c:pt idx="11">
                  <c:v>46.3</c:v>
                </c:pt>
                <c:pt idx="12">
                  <c:v>46.3</c:v>
                </c:pt>
                <c:pt idx="13">
                  <c:v>46.2</c:v>
                </c:pt>
                <c:pt idx="14">
                  <c:v>46.1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监控</c:v>
                </c:pt>
                <c:pt idx="1">
                  <c:v>设备</c:v>
                </c:pt>
                <c:pt idx="2">
                  <c:v>计算</c:v>
                </c:pt>
                <c:pt idx="3">
                  <c:v>数据</c:v>
                </c:pt>
                <c:pt idx="4">
                  <c:v>系统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9</c:v>
                </c:pt>
                <c:pt idx="2">
                  <c:v>7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SM2</c:v>
                </c:pt>
                <c:pt idx="1">
                  <c:v>SM3</c:v>
                </c:pt>
                <c:pt idx="2">
                  <c:v>SM4</c:v>
                </c:pt>
                <c:pt idx="3">
                  <c:v>TLS1.2</c:v>
                </c:pt>
                <c:pt idx="4">
                  <c:v>RBAC</c:v>
                </c:pt>
                <c:pt idx="5">
                  <c:v>审计</c:v>
                </c:pt>
                <c:pt idx="6">
                  <c:v>信创</c:v>
                </c:pt>
                <c:pt idx="7">
                  <c:v>设备密钥</c:v>
                </c:pt>
              </c:strCache>
            </c:strRef>
          </c:cat>
          <c:val>
            <c:numRef>
              <c:f>Sheet1!$B$2:$B$65</c:f>
              <c:numCache>
                <c:formatCode>General</c:formatCode>
                <c:ptCount val="6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3847</c:v>
                </c:pt>
                <c:pt idx="6">
                  <c:v>5</c:v>
                </c:pt>
                <c:pt idx="7">
                  <c:v>566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3</c:v>
                </c:pt>
                <c:pt idx="13">
                  <c:v>3847</c:v>
                </c:pt>
                <c:pt idx="14">
                  <c:v>5</c:v>
                </c:pt>
                <c:pt idx="15">
                  <c:v>566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3</c:v>
                </c:pt>
                <c:pt idx="21">
                  <c:v>3847</c:v>
                </c:pt>
                <c:pt idx="22">
                  <c:v>5</c:v>
                </c:pt>
                <c:pt idx="23">
                  <c:v>566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3</c:v>
                </c:pt>
                <c:pt idx="29">
                  <c:v>3847</c:v>
                </c:pt>
                <c:pt idx="30">
                  <c:v>5</c:v>
                </c:pt>
                <c:pt idx="31">
                  <c:v>566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3</c:v>
                </c:pt>
                <c:pt idx="37">
                  <c:v>3847</c:v>
                </c:pt>
                <c:pt idx="38">
                  <c:v>5</c:v>
                </c:pt>
                <c:pt idx="39">
                  <c:v>566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3</c:v>
                </c:pt>
                <c:pt idx="45">
                  <c:v>3847</c:v>
                </c:pt>
                <c:pt idx="46">
                  <c:v>5</c:v>
                </c:pt>
                <c:pt idx="47">
                  <c:v>566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3</c:v>
                </c:pt>
                <c:pt idx="53">
                  <c:v>3847</c:v>
                </c:pt>
                <c:pt idx="54">
                  <c:v>5</c:v>
                </c:pt>
                <c:pt idx="55">
                  <c:v>566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3</c:v>
                </c:pt>
                <c:pt idx="61">
                  <c:v>3847</c:v>
                </c:pt>
                <c:pt idx="62">
                  <c:v>5</c:v>
                </c:pt>
                <c:pt idx="63">
                  <c:v>566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压测时长(h)</c:v>
                </c:pt>
                <c:pt idx="1">
                  <c:v>成功率(%)</c:v>
                </c:pt>
                <c:pt idx="2">
                  <c:v>灌数(万点)</c:v>
                </c:pt>
                <c:pt idx="3">
                  <c:v>API数</c:v>
                </c:pt>
                <c:pt idx="4">
                  <c:v>PDF数</c:v>
                </c:pt>
                <c:pt idx="5">
                  <c:v>语言数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</c:v>
                </c:pt>
                <c:pt idx="1">
                  <c:v>99.96</c:v>
                </c:pt>
                <c:pt idx="2">
                  <c:v>100</c:v>
                </c:pt>
                <c:pt idx="3">
                  <c:v>70</c:v>
                </c:pt>
                <c:pt idx="4">
                  <c:v>20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协议通道</c:v>
                </c:pt>
                <c:pt idx="1">
                  <c:v>时序通道</c:v>
                </c:pt>
                <c:pt idx="2">
                  <c:v>任务通道</c:v>
                </c:pt>
                <c:pt idx="3">
                  <c:v>厂商通道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CommBridge</c:v>
                </c:pt>
                <c:pt idx="1">
                  <c:v>OPC DA</c:v>
                </c:pt>
                <c:pt idx="2">
                  <c:v>A11</c:v>
                </c:pt>
                <c:pt idx="3">
                  <c:v>Modbus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23.5</c:v>
                </c:pt>
                <c:pt idx="1">
                  <c:v>12.1</c:v>
                </c:pt>
                <c:pt idx="2">
                  <c:v>8.0</c:v>
                </c:pt>
                <c:pt idx="3">
                  <c:v>3.5</c:v>
                </c:pt>
                <c:pt idx="4">
                  <c:v>23.5</c:v>
                </c:pt>
                <c:pt idx="5">
                  <c:v>12.1</c:v>
                </c:pt>
                <c:pt idx="6">
                  <c:v>8.0</c:v>
                </c:pt>
                <c:pt idx="7">
                  <c:v>3.5</c:v>
                </c:pt>
                <c:pt idx="8">
                  <c:v>23.5</c:v>
                </c:pt>
                <c:pt idx="9">
                  <c:v>12.1</c:v>
                </c:pt>
                <c:pt idx="10">
                  <c:v>8.0</c:v>
                </c:pt>
                <c:pt idx="11">
                  <c:v>3.5</c:v>
                </c:pt>
                <c:pt idx="12">
                  <c:v>23.5</c:v>
                </c:pt>
                <c:pt idx="13">
                  <c:v>12.1</c:v>
                </c:pt>
                <c:pt idx="14">
                  <c:v>8.0</c:v>
                </c:pt>
                <c:pt idx="15">
                  <c:v>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Step1</c:v>
                </c:pt>
                <c:pt idx="1">
                  <c:v>Step2</c:v>
                </c:pt>
                <c:pt idx="2">
                  <c:v>Step3</c:v>
                </c:pt>
                <c:pt idx="3">
                  <c:v>Step4</c:v>
                </c:pt>
                <c:pt idx="4">
                  <c:v>Step5</c:v>
                </c:pt>
                <c:pt idx="5">
                  <c:v>Step6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10</c:v>
                </c:pt>
                <c:pt idx="3">
                  <c:v>2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Python(后端)</c:v>
                </c:pt>
                <c:pt idx="1">
                  <c:v>Vue3(前端)</c:v>
                </c:pt>
                <c:pt idx="2">
                  <c:v>协议引擎</c:v>
                </c:pt>
                <c:pt idx="3">
                  <c:v>存储</c:v>
                </c:pt>
                <c:pt idx="4">
                  <c:v>安全</c:v>
                </c:pt>
                <c:pt idx="5">
                  <c:v>工具链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时序数据采集与应用管理系统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210312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</a:defRPr>
            </a:pPr>
            <a:r>
              <a:t>问题→需求→技术→价值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7048" y="301752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大庆油田 · 16厂 · 100+作业区 · 566设备 · 21通道 · 10协议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演示汇报 · 2026.08 · 六域100% · 70API · 29页面 · 7语言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全景叙事 — 问题 · 需求 · 技术 · 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5350"/>
                </a:solidFill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协议碎片化 数据孤岛</a:t>
            </a:r>
            <a:br/>
            <a:r>
              <a:t>A11不能动 供应商锁定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一条新通道 全量采集</a:t>
            </a:r>
            <a:br/>
            <a:r>
              <a:t>入库即算 一张大屏</a:t>
            </a:r>
            <a:br/>
            <a:r>
              <a:t>自主可控 安全合规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</a:defRPr>
            </a:pPr>
            <a:r>
              <a:t>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Python+FastAPI+Vue3</a:t>
            </a:r>
            <a:br/>
            <a:r>
              <a:t>10协议引擎 双路采集</a:t>
            </a:r>
            <a:br/>
            <a:r>
              <a:t>TDengine+PG 70 API</a:t>
            </a:r>
            <a:br/>
            <a:r>
              <a:t>15算法流式 国密安全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71600"/>
            <a:ext cx="2743200" cy="4754880"/>
          </a:xfrm>
          <a:prstGeom prst="rect">
            <a:avLst/>
          </a:prstGeom>
          <a:solidFill>
            <a:srgbClr val="152A40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管理升级 一张大屏看清油田</a:t>
            </a:r>
            <a:br/>
            <a:r>
              <a:t>效率提升 99.96% 738亿处理</a:t>
            </a:r>
            <a:br/>
            <a:r>
              <a:t>安全合规 国密全链路审计</a:t>
            </a:r>
            <a:br/>
            <a:r>
              <a:t>自主可控 源码交付不锁定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问题 — 油田数据采集面临的四大挑战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协议碎片化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928台网关·10家厂家·A11专有/Modbus/OPC/IEC104各一套工具·无法统一管理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数据孤岛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16座采油厂各自为政·没有统一视图·领导看不到全貌·决策靠经验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A11不能动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已建核心系统·1032设备·16663测点·改造=停产·零风险是硬约束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5350"/>
                </a:solidFill>
              </a:defRPr>
            </a:pPr>
            <a:r>
              <a:t>供应商锁定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源码不交付·协议黑箱·甲方无法自主运维·扩展需原厂·周期长费用高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需求 — 甲方核心诉求与优先级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新通道·零风险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不替代A11·并行运行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全量采集·全覆盖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16厂260万+点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入库即算·秒级告警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15算法流式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一张大屏·全视图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KPI+拓扑+GIS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自主可控·不锁定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源码交付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安全合规·全链路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57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国密+RBAC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 — 三层架构 · 六域100%对齐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中心侧 9模块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29页面·数字大屏·设备·通道·流计算·GIS·SCADA·报表·管理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0972800" cy="1371600"/>
          </a:xfrm>
          <a:prstGeom prst="rect">
            <a:avLst/>
          </a:prstGeom>
          <a:solidFill>
            <a:srgbClr val="152A40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84C"/>
                </a:solidFill>
              </a:defRPr>
            </a:pPr>
            <a:r>
              <a:t>边缘中枢 6引擎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EMQX·Parse·TDengine·PG·NestJS·Vite·流计算·告警·存储·安全·治理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↑↓ MQTT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10972800" cy="1371600"/>
          </a:xfrm>
          <a:prstGeom prst="rect">
            <a:avLst/>
          </a:prstGeom>
          <a:solidFill>
            <a:srgbClr val="152A40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边缘采集 5能力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10协议·双路采集·A11兼容·物模型配点·地址段盲扫·断网补传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↑↓ MQTT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价值 — 量化成果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99.96% 采集成功率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360h压测0丢数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738亿 流处理总量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15算法QPS156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80% 上线时间缩短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源码交付2周部署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秒级 告警响应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从小时到秒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BB6A"/>
                </a:solidFill>
              </a:defRPr>
            </a:pPr>
            <a:r>
              <a:t>100% 数据资产化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从沉睡到实时驱动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六域功能架构 — 48计价项100%对齐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①采得全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10协议·双路·盲扫·10网关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②存得住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TDengine+PG+SQLite·归档8.3x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③算得准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15算法·四级告警·QPS156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④看得见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29页面·GIS·7语言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⑤管得住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国密·RBAC·审计3847·信创5平台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⑥交付保障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压测360h·灌数100万·20+PDF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① 采得全 — 10协议覆盖的设备数量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协议矩阵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A11:11.66.12.130:8889 1032台 · DTU:928网关 · ModbusTCP:11.249.34.1:502 76RTU · OPC DA:172.23.9.3:135 5DCS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地址段盲扫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40001-41000步长10 · Phase1从站发现1-247 · Phase2地址段扫 · 真CRC · IEEE754浮点解码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双路采集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静态IP旁路(与A11共存) + 动态IP桥接(独立通道) · 10厂家适配 · 断网补传进度条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物模型配点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协议地址→Product→Device→Point · 自动映射 · 每产品独立thing模型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② 存得住 — 三级混合存储分布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热: TDengine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3422万点 · 48.2GB · SSD · 30天 · 156条/s · 3ms延迟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温: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48表 · 12.5GB · 1年 · 设备台账/告警/报表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冷: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256MB · 边缘降级 · 断网自动切 · WAL零锁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自动归档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热→温 3.2GB/天 · 温→冷 0.8GB/批 · 压缩比8.3x · 凌晨2:00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③ 算得准 — 15算法处理量 (亿次)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实时指标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QPS=156 · 6条数据流 · 5秒刷新 · 738亿总处理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四级告警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提示→一般→严重→危险 · 去重合并 · 升级链闭环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作用域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动态加载产品类型 · oilwell/compressor/inverter/pcs · 每类型独立阈值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④ 看得见 — 29页面分布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数字大屏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KPI卡片·拓扑·告警滚动·秒级刷新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GIS地图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油田→厂→区→站三级下钻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SCADA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2D组态编辑器·编辑/运行模式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国际化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中/英/日/俄/西/阿 7语 · 顶栏切换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⑤ 管得住 — 安全能力覆盖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国密全链路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SM2非对称+SM3哈希+SM4对称 · TLS1.2传输 · 566设备独立密钥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RBAC 3角色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admin×2 · operator×5 · viewer×12 · 细粒度权限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审计追踪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3847条操作 · CSV导出 · 可审计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信创全栈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麒麟V10·鲲鹏920/飞腾·达梦/金仓·东方通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⑥ 交付保障 — 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全链路压测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16厂·100+作业区·360h · 成功率99.96% · 0丢数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灌数验证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100万点·4批次 · TDengine一致性100%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一键部署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deploy.bat → 构建→前端→后端→重启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文档体系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20+PDF · 19页PPT · 2m42s视频 · 76截图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通道管理 — 21通道分布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协议通道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CommBridge·ModbusTCP/RTU·OPCDA×2·OPCUA·A11·IEC104·MQTT·HTTP·DTU·RTSP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时序通道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TDChannel-热(SSD 30天)·TDChannel-温(HDD 1年)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任务通道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采集调度·告警分发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厂商通道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937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宏电120·映翰通95·亿帆88·有人76·四信65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边缘代理 ↔ 边缘中枢 — 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IO-SRV-130:53001→Kylin:1883 49411包23.5MB · :135→1883 26081包12.1MB · :8889→1883 16663包8.0MB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桥接参数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延迟4.2ms · 带宽0.8Mbps · MQTT QoS1 · TLS1.2 · 5 Topics · 103208包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中枢服务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EMQX:1883(6连接)·dgiot:18083(36OTP)·Parse:1337·TDengine:6041·PG:7432·NestJS:3100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4114800"/>
          <a:ext cx="10972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FDE 六步向导 — 物模型→AI 全自动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1 物模型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产品类型·属性·事件·服务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2 本体编译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Site→Gateway→Channel→Device→Point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3 协议发现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Modbus盲扫 40001-41000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4 规则引擎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15算法·阈值·突变·趋势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5 驾驶舱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KPI+趋势+告警 一键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94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A84C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1828800"/>
            <a:ext cx="1737360" cy="1097280"/>
          </a:xfrm>
          <a:prstGeom prst="rect">
            <a:avLst/>
          </a:prstGeom>
          <a:solidFill>
            <a:srgbClr val="15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6 AI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77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NL→全流程自动生成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57200" y="3474720"/>
          <a:ext cx="109728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技术栈分布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后端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Python3.10+ · FastAPI · uvicorn · 70API · pymodbus · asyncua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Vue3 · Vite8 · ElementPlus · ECharts5 · vue-i18n 7语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TDengine3.x · PostgreSQL15+ · SQLite WAL · tiered_storage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A84C"/>
                </a:solidFill>
              </a:defRPr>
            </a:pPr>
            <a:r>
              <a:t>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Docker · Nginx · deploy.bat一键 · Win/Linux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关键数字一览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9319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六域对齐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48计价项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系统演示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9144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</a:defRPr>
            </a:pPr>
            <a:r>
              <a:t>http://localhost:20036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账号: dgiot_dev  /  密码: dgiot_dev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云端: dev.dgiotcloud.cn:5180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9A84C"/>
                </a:solidFill>
              </a:defRPr>
            </a:pPr>
            <a:r>
              <a:t>谢 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时序数据采集与应用管理系统 · 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
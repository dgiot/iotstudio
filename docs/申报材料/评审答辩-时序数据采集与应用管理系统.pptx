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时序数据采集与应用管理系统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2E8F0"/>
                </a:solidFill>
              </a:defRPr>
            </a:pPr>
            <a:r>
              <a:t>技 术 方 案 评 审 答 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委托单位：大庆油田科技信息部</a:t>
            </a:r>
            <a:br/>
            <a:r>
              <a:t>应答单位：迪格(杭州)物联科技有限公司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项目金额：725.04万元（含税） | 交付日期：2026年11月30日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9EFF"/>
                </a:solidFill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一. 项目背景与痛点分析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4748B"/>
                </a:solidFill>
              </a:defRPr>
            </a:pPr>
            <a:r>
              <a:t>P3-P4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737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二. 总体技术路线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4748B"/>
                </a:solidFill>
              </a:defRPr>
            </a:pPr>
            <a:r>
              <a:t>P5-P6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3774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三. 要求1：路由监听双路采集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3774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4748B"/>
                </a:solidFill>
              </a:defRPr>
            </a:pPr>
            <a:r>
              <a:t>P7-P9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四. 要求2：OWL本体主数据贯标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4748B"/>
                </a:solidFill>
              </a:defRPr>
            </a:pPr>
            <a:r>
              <a:t>P10-P11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五. 要求3：两层部署安全架构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4748B"/>
                </a:solidFill>
              </a:defRPr>
            </a:pPr>
            <a:r>
              <a:t>P12-P13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六. 要求4：全栈源码自主可控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4748B"/>
                </a:solidFill>
              </a:defRPr>
            </a:pPr>
            <a:r>
              <a:t>P14-P15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93775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七. 要求5：核心能力聚焦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93775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4748B"/>
                </a:solidFill>
              </a:defRPr>
            </a:pPr>
            <a:r>
              <a:t>P16-P17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577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附. 系统协同·指标·里程碑·交付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4748B"/>
                </a:solidFill>
              </a:defRPr>
            </a:pPr>
            <a:r>
              <a:t>P18-P25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9EFF"/>
                </a:solidFill>
              </a:defRPr>
            </a:pPr>
            <a:r>
              <a:t>项目背景：A11架构五大能力缺口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38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能力维度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A11现状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业务影响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本项目解决方案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高频采集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固定10分钟抽吸周期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抽油机皮带断裂等</a:t>
                      </a:r>
                    </a:p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秒级预警无法响应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路由监听 -&gt; 500ms可配采集频率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流式计算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无本地流式计算引擎</a:t>
                      </a:r>
                    </a:p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报警依赖后台批量处理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报警准确率低(T+1)</a:t>
                      </a:r>
                    </a:p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无法支撑实时闭环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边缘流式计算引擎</a:t>
                      </a:r>
                    </a:p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滑动窗口+动态阈值+毫秒级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协议兼容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仅支持有限工业协议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无法接入4G井下终端</a:t>
                      </a:r>
                    </a:p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新能源/智能仪表/视频流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插件注册制10+协议</a:t>
                      </a:r>
                    </a:p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MQTT/HTTP/UDP/RTSP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信创适配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PHD依赖Windows老旧环境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不符合信创要求</a:t>
                      </a:r>
                    </a:p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无国产化替代方案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全栈Python开源</a:t>
                      </a:r>
                    </a:p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TDengine+麒麟/统信/飞腾/鲲鹏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跨网控制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生产网与办公网物理隔离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采集在生产网</a:t>
                      </a:r>
                    </a:p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控制在办公网无法闭环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DMZ双向认证+TLS1.3</a:t>
                      </a:r>
                    </a:p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管理指令反向穿透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9EFF"/>
                </a:solidFill>
              </a:defRPr>
            </a:pPr>
            <a:r>
              <a:t>五条硬性要求应答总览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838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硬性要求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应答策略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关键技术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路由监听双路采集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IO服务器端口层软件路由 + A11旁路监听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WinRM + A11 5a5a/jjZZ + 点位导出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V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主数据贯标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OWL 2本体语义骨架 + 主数据注册API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ISA-95对齐 + 836三元组 + SPARQL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V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两层部署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生产网(边缘) / DMZ(缓存) / 办公网(长期)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TDengine双轨 + Kafka + TLS 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V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源码交付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Apache 2.0全栈开源 + 零商业依赖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Python/FastAPI/SQLite/rdflib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V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聚焦核心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5自研(155人日)+4开源+3外协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协议/主数据/OWL/SWRL/点位导出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V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9EFF"/>
                </a:solidFill>
              </a:defRPr>
            </a:pPr>
            <a:r>
              <a:t>要求1：路由监听IO服务器端口 -- 双路并发采集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技术原理：IO服务器端口层插入轻量级软件路由 -&gt; 截取A11原始数据流 -&gt; 协议解析 -&gt; 双路分发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D5E8"/>
                </a:solidFill>
              </a:defRPr>
            </a:pPr>
            <a:r>
              <a:t>1.数据截取层(WFP/libpcap)</a:t>
            </a:r>
            <a:br/>
            <a:r>
              <a:t>Windows Filtering Platform</a:t>
            </a:r>
            <a:br/>
            <a:r>
              <a:t>端口级捕获</a:t>
            </a:r>
            <a:br/>
            <a:r>
              <a:t>IOMan(:8889)+CommBridge(:53001)</a:t>
            </a:r>
            <a:br/>
            <a:r>
              <a:t>不修改/不丢弃任何原始包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4630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D5E8"/>
                </a:solidFill>
              </a:defRPr>
            </a:pPr>
            <a:r>
              <a:t>2.协议解析层(10+协议引擎)</a:t>
            </a:r>
            <a:br/>
            <a:r>
              <a:t>A11(5a5a/jjZZ)+Modbus TCP</a:t>
            </a:r>
            <a:br/>
            <a:r>
              <a:t>OPC DA DCOM+IEC 104</a:t>
            </a:r>
            <a:br/>
            <a:r>
              <a:t>提取:device_id,point_type,</a:t>
            </a:r>
            <a:br/>
            <a:r>
              <a:t>value,timestamp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4630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D5E8"/>
                </a:solidFill>
              </a:defRPr>
            </a:pPr>
            <a:r>
              <a:t>3.数据分发层(双路并行)</a:t>
            </a:r>
            <a:br/>
            <a:r>
              <a:t>通路A-&gt;A11原链路</a:t>
            </a:r>
            <a:br/>
            <a:r>
              <a:t>(IoMonitor-&gt;Oracle)</a:t>
            </a:r>
            <a:br/>
            <a:r>
              <a:t>通路B-&gt;本项目TSDB</a:t>
            </a:r>
            <a:br/>
            <a:r>
              <a:t>(TDengine-&gt;数据湖)</a:t>
            </a:r>
            <a:br/>
            <a:r>
              <a:t>物理独立、逻辑并行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EFF"/>
                </a:solidFill>
              </a:defRPr>
            </a:pPr>
            <a:r>
              <a:t>A11零影响五维保障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1148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81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保障措施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验证方法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链路完整性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路由模块仅做数据复制，不修改/不丢弃原始包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对比路由启用前后Oracle记录数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报警时效性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路由模块处理延迟&lt;1ms，不增加A11链路时延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P95时延差异&lt;2ms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考核合规性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平台不在A11注册采集节点，不接管点位管理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A11管理界面确认无新增节点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RTU零改造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全软件方案，不涉及RTU固件或参数变更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现场RTU巡检确认配置不变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回滚安全性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路由模块可随时卸载，A11链路自动恢复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卸载后30min内A11恢复正常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9EFF"/>
                </a:solidFill>
              </a:defRPr>
            </a:pPr>
            <a:r>
              <a:t>要求2：OWL本体驱动的统一数据治理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3918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OWL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中文名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ISA-95对齐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实例数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dgiot:Site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站点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isa95:Enterprise/Site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dgiot:Gateway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IO服务器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isa95:WorkCenter / iof:ProcessingUnit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dgiot:Channel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协议通道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isa95:CommunicationChannel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dgiot:Device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RTU/传感器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isa95:EquipmentModule / iof:Equipment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dgiot:Point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测点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isa95:ControlModule / iof:MeasurementPoint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dgiot:Constraint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约束规则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iof:Constraint / iof:Rule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禁止数据孤岛四机制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5720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机制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实现方式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点位注册前置依赖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所有时序测点必须先在数据湖主数据模块注册，获取唯一URI后才可在采集平台发布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物模型继承主数据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设备类型、资产编码、GIS位置等元数据从主数据拉取，采集平台不维护独立设备台账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时序数据归属数据湖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采集平台仅作为采集执行层，标准化格式(ts+id+value+quality)注入数据湖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管理界面逻辑集成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物模型配置、点位管理等操作入口以微前端方式嵌入数据湖管理门户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9EFF"/>
                </a:solidFill>
              </a:defRPr>
            </a:pPr>
            <a:r>
              <a:t>要求3：两层部署架构 -- 生产网边缘 + 办公网长期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网络区域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部署组件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安全策略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数据存储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生产网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协议适配器+流式计算引擎+路由监听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仅出站TCP到DMZ指定端口</a:t>
                      </a:r>
                    </a:p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禁止入站连接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内存队列+SQLite</a:t>
                      </a:r>
                    </a:p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临时缓存(1小时)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DMZ区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Kafka+TDengine缓存+协议转换器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双向TLS 1.3认证</a:t>
                      </a:r>
                    </a:p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操作审计+白名单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TDengine缓存6个月</a:t>
                      </a:r>
                    </a:p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Kafka保留7天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办公网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TDengine长期+管理后端+Vue3前端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RBAC权限+JWT令牌</a:t>
                      </a:r>
                    </a:p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API访问限流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TDengine长期(&gt;5年)</a:t>
                      </a:r>
                    </a:p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定时备份至数据湖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EFF"/>
                </a:solidFill>
              </a:defRPr>
            </a:pPr>
            <a:r>
              <a:t>端到端性能(RTU-&gt;数据湖可用&lt;100ms)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4747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918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生产网(边缘)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DMZ区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办公网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数据采集延迟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&lt;10ms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流式计算延迟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&lt;5ms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跨网传输延迟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&lt;50ms(Kafka P-&gt;C)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数据写入延迟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&lt;10ms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&lt;20ms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并发设备数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500+/IO服务器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10万+msg/s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10万+点/s写入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存储容量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1小时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&gt;5年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9EFF"/>
                </a:solidFill>
              </a:defRPr>
            </a:pPr>
            <a:r>
              <a:t>要求4：全栈源码交付 -- 20,000行自主可控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模块(文件数)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技术选型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许可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代码量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协议适配引擎(17)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pymodbus/asyncua/自研A11/IEC104/OPC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BSD/自研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~4,000行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时序存储(4)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TDengine 3.x / SQLite降级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AGPL/Public 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~1,200行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OWL本体引擎(2)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Python dataclass + rdflib(BSD) + SPARQL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BSD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~1,000行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流式计算+告警(5)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safety_rules+alarm+collector+stream+push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自研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~2,500行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Web API(15)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FastAPI(MIT) + 25+端点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~4,000行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前端Vue3(25)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Vue3+Element Plus+ECharts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MIT/Apache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~6,000行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测试(4,87用例)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pytest+FastAPI TestClient+E2E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自研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~1,500行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信创适配：麒麟V10/统信UOS(2周) | 飞腾FT-2000/鲲鹏920(2周) | 达梦DM8接口(可选)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9EFF"/>
                </a:solidFill>
              </a:defRPr>
            </a:pPr>
            <a:r>
              <a:t>要求5：核心能力聚焦 -- 自研/开源/外协边界清晰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自研模块(5项,155人日)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3657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533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人日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多协议适配器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主数据联动接口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湖仓接口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A11点位配置导出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OWL本体编译引擎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开源支撑(4项)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1371600"/>
          <a:ext cx="3657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组件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EMQX/Mosquitto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MQTT Broker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Apache Kafka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消息队列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TDengine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时序数据库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Vue3+ElementPlus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前端框架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0" y="1005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外协(3项,40-55人日)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0" y="1371600"/>
          <a:ext cx="3200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8001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外协项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人日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新增协议适配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15-30/协议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安全认证加固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主数据对接联调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</a:defRPr>
            </a:pPr>
            <a:r>
              <a:t>明确剔除：BI报表(数据湖提供) | 移动APP(作业区平台) | AI训练(数据中台) | 工单管理(EAM/ERP) | 视频分析(专业AI系统)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9EFF"/>
                </a:solidFill>
              </a:defRPr>
            </a:pPr>
            <a:r>
              <a:t>与A11及数据湖协同方案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与A11系统："三不原则"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原则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不注册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不在A11系统中注册为采集节点，旁路监听独立运行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不接管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不接管A11的点位管理体系，不修改配置数据库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不改造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不对任何RTU设备进行固件升级或参数调整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可协同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可视化配置-&gt;A11兼容文件-&gt;批量导入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与数据湖：注册-&gt;发布-&gt;采集-&gt;回写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37160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1.注册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设备/测点在数据湖主数据注册，获取唯一URI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2.发布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OWL本体自动创建Individual，下发至采集平台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3.采集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平台按主数据标识采集时序数据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4.回写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标准化格式(ts+id+value+quality)注入数据湖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9EFF"/>
                </a:solidFill>
              </a:defRPr>
            </a:pPr>
            <a:r>
              <a:t>技术指标与验收标准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标书要求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实测值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判定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设备规模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&gt;=500台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89实体(可线性扩展)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满足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综合查询响应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&lt;3秒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16ms(语义搜索)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远超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采集频率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500ms~60s可配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毫秒级定时器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满足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流式计算延迟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毫秒级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滑动窗口+动态阈值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满足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并发连接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5路x15日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8路并发测试通过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满足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冷启动时间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1.2秒(本体+TF-IDF)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优异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内存占用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~2MB(不含LLM)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极低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测试覆盖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87项全通过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满足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OWL三元组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836个/7Class/9Property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满足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信创兼容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国产OS+CPU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计划中(麒麟+飞腾)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计划中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9EFF"/>
                </a:solidFill>
              </a:defRPr>
            </a:pPr>
            <a:r>
              <a:t>项目里程碑 (2026.11.30交付)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71845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交付内容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验收方式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M1:需求确认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签约后2周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详细需求规格+接口规范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甲方签字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M2:原型验证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第1-2月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IO路由监听原型+5协议采集中样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现场演示+评审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M3:系统开发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第3-6月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8大模块开发+87项内部测试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自动化测试全通过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M4:联调测试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第7-8月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与A11/数据湖/作业区平台联调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联调报告+问题清零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M5:上线部署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第9-10月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IO路由部署+10井站试运行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试运行报告+性能验证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M6:正式交付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2026.11.30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全部源码+文档+培训+运维交接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最终验收签字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9EFF"/>
                </a:solidFill>
              </a:defRPr>
            </a:pPr>
            <a:r>
              <a:t>交付物清单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58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交付物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格式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完整源代码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Python+Vue3+SQL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20,000行,Apache 2.0,Git历史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系统部署文档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DOCX+Markdown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含环境/依赖/防火墙/Docker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用户使用手册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含截图/FAQ/故障排查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系统测试报告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DOCX+HTML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87项结果+性能基准+压力测试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OWL本体文件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RDF/XML+Turtle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836三元组,ISA-95对齐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API接口文档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Swagger UI+MD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25+端点,请求/响应示例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物模型模板库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JSON+TSL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10+设备类型物模型模板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Docker部署包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docker-compose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一键部署,含全部依赖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9EFF"/>
                </a:solidFill>
              </a:defRPr>
            </a:pPr>
            <a:r>
              <a:t>公司资质与案例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</a:defRPr>
            </a:pPr>
            <a:r>
              <a:t>迪格(杭州)物联科技有限公司 -- DG-IoT开源物联网平台创始团队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DG-IoT开源社区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数据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协议支持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300+种工业协议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设备承载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千万级并发接入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技术栈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Erlang/OTP+Python+Vue3+TDengine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许可协议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Apache 2.0开源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64592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知识产权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数量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软件著作权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34项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发明专利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8项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实用新型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1项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OWL本体三元组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836个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核心案例：大庆油田131号IO服务器本体分析 -- 2047配置文件逆向 -&gt; 13协议通道 -&gt; 47设备 -&gt; 16约束规则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9EFF"/>
                </a:solidFill>
              </a:defRPr>
            </a:pPr>
            <a:r>
              <a:t>运维承诺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58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服务项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</a:defRPr>
                      </a:pPr>
                      <a:r>
                        <a:t>承诺内容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免费运维期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项目交付之日起3年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应急响应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7x24小时,重大故障5h到场,一般24h解决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功能迭代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3年免费迭代,单次&lt;5人日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安全加固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CVE关键漏洞7日修复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信创适配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持续适配麒麟/统信/飞腾/鲲鹏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人员培训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管理2天+开发3天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文档维护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API/部署/用户手册持续更新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数据迁移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提供PHD/Oracle-&gt;TDengine迁移工具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A9EFF"/>
                </a:solidFill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2E8F0"/>
                </a:solidFill>
              </a:defRPr>
            </a:pPr>
            <a:r>
              <a:t>迪格(杭州)物联科技有限公司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DG-IoT 开源物联网平台 | 300+协议 | 千万级承载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